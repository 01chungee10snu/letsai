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188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09760" y="237744"/>
            <a:ext cx="2679192" cy="6620256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92440" y="713232"/>
            <a:ext cx="3017520" cy="5102352"/>
          </a:xfrm>
          <a:prstGeom prst="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822960"/>
            <a:ext cx="146304" cy="3401568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51560"/>
            <a:ext cx="6583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HRD부문의</a:t>
            </a:r>
            <a:r>
              <a:rPr sz="3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
</a:t>
            </a:r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효과적인</a:t>
            </a:r>
            <a:r>
              <a:rPr sz="3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AI </a:t>
            </a:r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활용</a:t>
            </a:r>
            <a:r>
              <a:rPr sz="3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방안</a:t>
            </a:r>
            <a:endParaRPr sz="30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02752" y="1024128"/>
            <a:ext cx="2286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236D73"/>
                </a:solidFill>
                <a:latin typeface="Pretendard" panose="02000503000000020004" pitchFamily="50" charset="-127"/>
              </a:rPr>
              <a:t>Workshop Meta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1417320"/>
            <a:ext cx="2377440" cy="914400"/>
          </a:xfrm>
          <a:prstGeom prst="roundRect">
            <a:avLst/>
          </a:prstGeom>
          <a:solidFill>
            <a:srgbClr val="F5F1EA"/>
          </a:solidFill>
          <a:ln w="1016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94192" y="1527048"/>
            <a:ext cx="204825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일시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
2026.04.17 (금)
10:00~17:00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2441448"/>
            <a:ext cx="2377440" cy="914400"/>
          </a:xfrm>
          <a:prstGeom prst="roundRect">
            <a:avLst/>
          </a:prstGeom>
          <a:solidFill>
            <a:srgbClr val="F5F1EA"/>
          </a:solidFill>
          <a:ln w="1016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4192" y="2551176"/>
            <a:ext cx="204825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1F2E38"/>
                </a:solidFill>
                <a:latin typeface="Pretendard" panose="02000503000000020004" pitchFamily="50" charset="-127"/>
              </a:rPr>
              <a:t>소속</a:t>
            </a:r>
            <a:r>
              <a:rPr sz="1200" dirty="0">
                <a:solidFill>
                  <a:srgbClr val="1F2E38"/>
                </a:solidFill>
                <a:latin typeface="Pretendard" panose="02000503000000020004" pitchFamily="50" charset="-127"/>
              </a:rPr>
              <a:t>
(주)</a:t>
            </a:r>
            <a:r>
              <a:rPr sz="120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현대제철</a:t>
            </a:r>
            <a:r>
              <a:rPr sz="1200" dirty="0">
                <a:solidFill>
                  <a:srgbClr val="1F2E38"/>
                </a:solidFill>
                <a:latin typeface="Pretendard" panose="02000503000000020004" pitchFamily="50" charset="-127"/>
              </a:rPr>
              <a:t>
</a:t>
            </a:r>
            <a:r>
              <a:rPr sz="120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컬처디자인팀</a:t>
            </a:r>
            <a:endParaRPr sz="120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47888" y="3465576"/>
            <a:ext cx="2377440" cy="914400"/>
          </a:xfrm>
          <a:prstGeom prst="roundRect">
            <a:avLst/>
          </a:prstGeom>
          <a:solidFill>
            <a:srgbClr val="F5F1EA"/>
          </a:solidFill>
          <a:ln w="1016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3575304"/>
            <a:ext cx="223113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강사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
한충석</a:t>
            </a:r>
            <a:r>
              <a:rPr lang="en-US"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책임매니저</a:t>
            </a:r>
            <a:endParaRPr lang="en-US"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/>
            <a:r>
              <a:rPr lang="en-US" sz="1200" dirty="0">
                <a:solidFill>
                  <a:srgbClr val="1F2E38"/>
                </a:solidFill>
                <a:latin typeface="Pretendard" panose="02000503000000020004" pitchFamily="50" charset="-127"/>
              </a:rPr>
              <a:t>brienz311@hyundai-steel.com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과정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개요와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교육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대상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목적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운영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메모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산출물을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한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장에서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조망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08760"/>
            <a:ext cx="2743200" cy="1901952"/>
          </a:xfrm>
          <a:prstGeom prst="roundRect">
            <a:avLst>
              <a:gd name="adj" fmla="val 10036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508760"/>
            <a:ext cx="128016" cy="1901952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655063"/>
            <a:ext cx="23957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대상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1984248"/>
            <a:ext cx="2468880" cy="632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HRD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실무자</a:t>
            </a:r>
            <a:endParaRPr sz="10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기획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담당자</a:t>
            </a:r>
            <a:endParaRPr sz="10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조직문화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리더십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프로그램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담당자</a:t>
            </a:r>
            <a:endParaRPr sz="10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11880" y="1508760"/>
            <a:ext cx="2926080" cy="1901952"/>
          </a:xfrm>
          <a:prstGeom prst="roundRect">
            <a:avLst>
              <a:gd name="adj" fmla="val 9483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11880" y="1508760"/>
            <a:ext cx="128016" cy="190195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31336" y="1655063"/>
            <a:ext cx="257860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목적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76472" y="1984248"/>
            <a:ext cx="2651760" cy="632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AI의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기술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변화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방향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이해</a:t>
            </a:r>
            <a:endParaRPr sz="10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HRD 전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과정의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적용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시나리오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</a:t>
            </a:r>
            <a:endParaRPr sz="10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실무에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바로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연결되는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문제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정의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역량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강화</a:t>
            </a:r>
            <a:endParaRPr sz="10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44757" y="1508760"/>
            <a:ext cx="3108540" cy="19019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44757" y="1508760"/>
            <a:ext cx="128016" cy="1901952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64213" y="1655063"/>
            <a:ext cx="159105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핵심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09348" y="1984248"/>
            <a:ext cx="2607617" cy="1225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GPTs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챗봇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교육운영용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마이크로사이트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1종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리더십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F/U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개인화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메시지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만족도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자동화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흐름도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전사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AX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추진용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HRD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기획방안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368" y="3657600"/>
            <a:ext cx="10899648" cy="2249424"/>
          </a:xfrm>
          <a:prstGeom prst="roundRect">
            <a:avLst>
              <a:gd name="adj" fmla="val 9191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3657600"/>
            <a:ext cx="128016" cy="2249424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803904"/>
            <a:ext cx="1055217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관점에서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본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이번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워크숍</a:t>
            </a:r>
            <a:endParaRPr sz="1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59" y="4133087"/>
            <a:ext cx="10625328" cy="1165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기획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HRD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담당자가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문제를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명확히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정의하고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검증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가능한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결과물로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연결하는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연습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FAQ,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후속안내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실습자료처럼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반복되는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만족도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데이터의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정량·정성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자동화해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작성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시간을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단축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확산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2025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성과와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2026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운영방향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Change Agent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체계까지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하나의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흐름으로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연결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핵심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메시지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AI를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도구가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아니라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문제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정의와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산출물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연결의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가속기로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해석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45920"/>
            <a:ext cx="365760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645920"/>
            <a:ext cx="3657600" cy="402336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32461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01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생산성</a:t>
            </a:r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증폭</a:t>
            </a:r>
            <a:endParaRPr sz="15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9264" y="2304288"/>
            <a:ext cx="315468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AI는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HRD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업무를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통째로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대체하기보다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기획-운영-분석-커뮤니케이션의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생산성을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크게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증폭시킨다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62856" y="1645920"/>
            <a:ext cx="365760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62856" y="1645920"/>
            <a:ext cx="3657600" cy="402336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7448" y="1828800"/>
            <a:ext cx="32461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02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HRD의</a:t>
            </a:r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본질</a:t>
            </a:r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유지</a:t>
            </a:r>
            <a:endParaRPr sz="15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82312" y="2304288"/>
            <a:ext cx="3154680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HRD의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본질은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사람과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조직을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이해하고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행동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변화를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설계하는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일이며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AI는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그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설계를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더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빠르게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실험하고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구현하게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해주는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도구다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75904" y="1645920"/>
            <a:ext cx="365760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5904" y="1645920"/>
            <a:ext cx="3657600" cy="402336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0496" y="1828800"/>
            <a:ext cx="32461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03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문제</a:t>
            </a:r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정의</a:t>
            </a:r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역량</a:t>
            </a:r>
            <a:endParaRPr sz="15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95360" y="2304288"/>
            <a:ext cx="315468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중요한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것은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도구를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잘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사용하는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것이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아니라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문제를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명확히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정의하고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검증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가능한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산출물로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연결하는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능력이다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15184" y="5358384"/>
            <a:ext cx="6949440" cy="658368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16352" y="5559552"/>
            <a:ext cx="656539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결론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: '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도구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사용법'보다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'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업무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문제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정의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→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검증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가능한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산출물'의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흐름을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설계하는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것이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핵심</a:t>
            </a:r>
            <a:endParaRPr sz="13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시간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배분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(안)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하루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전체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흐름을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세션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목적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중심으로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재구성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389888"/>
            <a:ext cx="10826496" cy="640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32688" y="1499616"/>
            <a:ext cx="1554480" cy="41148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600200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10:00~10:50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499616"/>
            <a:ext cx="1097280" cy="411480"/>
          </a:xfrm>
          <a:prstGeom prst="round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2928" y="1600200"/>
            <a:ext cx="868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강의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78224" y="1545336"/>
            <a:ext cx="72420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AI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동향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이해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, HRD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적용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관점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정리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49808" y="2103120"/>
            <a:ext cx="10826496" cy="640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32688" y="2212848"/>
            <a:ext cx="1554480" cy="41148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2313432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11:00~12:00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212848"/>
            <a:ext cx="1097280" cy="411480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52928" y="2313432"/>
            <a:ext cx="868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실습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8224" y="2258568"/>
            <a:ext cx="72420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교육운영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효율화를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위한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FAQ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챗봇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및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제작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49808" y="2816352"/>
            <a:ext cx="10826496" cy="640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32688" y="2926080"/>
            <a:ext cx="1554480" cy="41148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3026664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12:00~13:00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2926080"/>
            <a:ext cx="1097280" cy="411480"/>
          </a:xfrm>
          <a:prstGeom prst="round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52928" y="3026664"/>
            <a:ext cx="868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점심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78224" y="2971800"/>
            <a:ext cx="72420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휴식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및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질의응답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49808" y="3529584"/>
            <a:ext cx="10826496" cy="640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32688" y="3639312"/>
            <a:ext cx="1554480" cy="41148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" y="3739896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13:00~13:50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3639312"/>
            <a:ext cx="1097280" cy="411480"/>
          </a:xfrm>
          <a:prstGeom prst="round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52928" y="3739896"/>
            <a:ext cx="868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시연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8224" y="3685032"/>
            <a:ext cx="72420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LLM API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활용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개인화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피드백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메시지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제작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및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개인화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메일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발송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49808" y="4242816"/>
            <a:ext cx="10826496" cy="640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2688" y="4352544"/>
            <a:ext cx="1554480" cy="41148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" y="4453128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14:00~15:30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4352544"/>
            <a:ext cx="1097280" cy="411480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52928" y="4453128"/>
            <a:ext cx="868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실습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8224" y="4398264"/>
            <a:ext cx="72420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자동화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및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감정분석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시각화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49808" y="4956048"/>
            <a:ext cx="10826496" cy="640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32688" y="5065776"/>
            <a:ext cx="1554480" cy="41148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78992" y="5166360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15:40~16:30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5065776"/>
            <a:ext cx="1097280" cy="411480"/>
          </a:xfrm>
          <a:prstGeom prst="round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52928" y="5166360"/>
            <a:ext cx="868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사례공유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078224" y="5111496"/>
            <a:ext cx="72420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2025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성과와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2026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방향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, Change Agent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49808" y="5669280"/>
            <a:ext cx="10826496" cy="640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32688" y="5779008"/>
            <a:ext cx="1554480" cy="41148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78992" y="5879592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16:30~17:00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5779008"/>
            <a:ext cx="1097280" cy="411480"/>
          </a:xfrm>
          <a:prstGeom prst="round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52928" y="5879592"/>
            <a:ext cx="868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Wrap-up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78224" y="5824728"/>
            <a:ext cx="72420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HRD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담당자의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AI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학습법과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전사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AX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제언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685800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3291840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0" b="1" i="0" dirty="0">
                <a:solidFill>
                  <a:srgbClr val="C9A25D"/>
                </a:solidFill>
                <a:latin typeface="Pretendard" panose="02000503000000020004" pitchFamily="50" charset="-127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84831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강의</a:t>
            </a:r>
            <a:endParaRPr sz="30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84448" y="2852928"/>
            <a:ext cx="6309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생성형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AI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동향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이해와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HRD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적용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관점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정리</a:t>
            </a:r>
            <a:endParaRPr sz="1800" b="0" i="0" dirty="0">
              <a:solidFill>
                <a:srgbClr val="DDE6EA"/>
              </a:solidFill>
              <a:latin typeface="Pretendard" panose="02000503000000020004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4224528"/>
            <a:ext cx="3794760" cy="54864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440740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흐름으로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다음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슬라이드를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전개</a:t>
            </a:r>
            <a:endParaRPr sz="12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강의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AI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발전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학습목표와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기술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변화를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한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번에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파악하는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오프닝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슬라이드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3200400" cy="4526280"/>
          </a:xfrm>
          <a:prstGeom prst="roundRect">
            <a:avLst>
              <a:gd name="adj" fmla="val 7143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52628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28529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학습목표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2926080" cy="1631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AI의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이해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LLM, Transformer,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Attention의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핵심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개념을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HRD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관점으로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단순화해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설명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HRD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전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과정에서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AI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적용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가능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지점을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구체적으로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식별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73152" cy="3611880"/>
          </a:xfrm>
          <a:prstGeom prst="rect">
            <a:avLst/>
          </a:prstGeom>
          <a:solidFill>
            <a:srgbClr val="D9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169663" y="1664207"/>
            <a:ext cx="475488" cy="475488"/>
          </a:xfrm>
          <a:prstGeom prst="ellipse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36592" y="1536192"/>
            <a:ext cx="649224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36592" y="1536192"/>
            <a:ext cx="128016" cy="841248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56048" y="1682495"/>
            <a:ext cx="61447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2017 | Transformer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발표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37759" y="2066543"/>
            <a:ext cx="61813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구글이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병렬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문맥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파악이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가능한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Transformer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아키텍처를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공개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169663" y="2578608"/>
            <a:ext cx="475488" cy="475488"/>
          </a:xfrm>
          <a:prstGeom prst="ellipse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36592" y="2450591"/>
            <a:ext cx="649224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36592" y="2450591"/>
            <a:ext cx="128016" cy="841248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56048" y="2596896"/>
            <a:ext cx="61447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2020 | LLM </a:t>
            </a:r>
            <a:r>
              <a:rPr lang="ko-KR" altLang="en-US"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개발 확산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37759" y="2980944"/>
            <a:ext cx="61813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GPT-3 등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거대언어모델의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파라미터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경쟁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본격화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69663" y="3493008"/>
            <a:ext cx="475488" cy="475488"/>
          </a:xfrm>
          <a:prstGeom prst="ellipse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36592" y="3364991"/>
            <a:ext cx="649224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36592" y="3364991"/>
            <a:ext cx="128016" cy="841248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56048" y="3511296"/>
            <a:ext cx="61447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2022 | ChatGPT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대중화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37759" y="3895344"/>
            <a:ext cx="61813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대화형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AI의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실무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도입과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대중화가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급가속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169663" y="4407407"/>
            <a:ext cx="475488" cy="475488"/>
          </a:xfrm>
          <a:prstGeom prst="ellipse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736592" y="4279392"/>
            <a:ext cx="649224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36592" y="4279392"/>
            <a:ext cx="128016" cy="841248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56048" y="4425696"/>
            <a:ext cx="61447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2024+ |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추론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특화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고도화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37759" y="4809744"/>
            <a:ext cx="61813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단순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생성에서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복잡한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문제해결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중심의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reasoning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모델로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진화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2026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모델·서비스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지형도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현재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기준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SOTA,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오픈소스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서비스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유형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진화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방향을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4분면으로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정리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08760"/>
            <a:ext cx="5230368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508760"/>
            <a:ext cx="128016" cy="182880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55063"/>
            <a:ext cx="48828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프론티어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모델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84248"/>
            <a:ext cx="4956048" cy="784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OpenAI GPT-</a:t>
            </a:r>
            <a:r>
              <a:rPr lang="en-US"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5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  <a:r>
              <a:rPr lang="en-US"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4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Google Gemini </a:t>
            </a:r>
            <a:r>
              <a:rPr lang="en-US"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3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  <a:r>
              <a:rPr lang="en-US"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1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Pro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Anthropic Claude </a:t>
            </a:r>
            <a:r>
              <a:rPr lang="en-US"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4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  <a:r>
              <a:rPr lang="en-US"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6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Sonnet / Opus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330952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128016" cy="1828800"/>
          </a:xfrm>
          <a:prstGeom prst="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1655063"/>
            <a:ext cx="4983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오픈소스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/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소형화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(SLM)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984248"/>
            <a:ext cx="5056632" cy="1064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Meta Llama</a:t>
            </a:r>
            <a:r>
              <a:rPr lang="en-US"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Google Gemma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시리즈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Mistral 등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도메인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특화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모델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온디바이스·특정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기기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적용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확대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소형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모델과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맞춤형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배치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전략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중요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9808" y="3611880"/>
            <a:ext cx="5230368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8" y="3611880"/>
            <a:ext cx="128016" cy="182880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3758184"/>
            <a:ext cx="48828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최근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진화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4087368"/>
            <a:ext cx="4956048" cy="780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텍스트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중심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LLM →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이미지·음성·문서를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아우르는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멀티모달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질의응답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중심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→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계획하고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행동하는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Agentic AI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소프트웨어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→ Physical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AI와의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결합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0" y="3611880"/>
            <a:ext cx="5330952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611880"/>
            <a:ext cx="128016" cy="1828800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3758184"/>
            <a:ext cx="4983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대표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서비스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예시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82512" y="4087368"/>
            <a:ext cx="5404104" cy="784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범용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AI: ChatGPT, Gemini, Claude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AI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코딩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Codex, Gemini CLI, Claude Code, GitHub Copilot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핵심은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서비스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이름보다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적합성과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보안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기준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AI의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작동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원리와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HRD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접점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모델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원리를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단순화하고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HRD 전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과정의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적용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포인트를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나란히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배치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2606040" cy="16459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164592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22585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011680"/>
            <a:ext cx="229514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대규모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텍스트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패턴을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바탕으로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다음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토큰을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예측하는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모델</a:t>
            </a:r>
            <a:endParaRPr sz="13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529584" y="1481328"/>
            <a:ext cx="2606040" cy="16459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9584" y="1481328"/>
            <a:ext cx="128016" cy="164592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39" y="1627632"/>
            <a:ext cx="22585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Transformer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011680"/>
            <a:ext cx="229514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입력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간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관계를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병렬적으로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파악하는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</a:t>
            </a:r>
            <a:endParaRPr sz="13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9808" y="3401568"/>
            <a:ext cx="2606040" cy="16459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8" y="3401568"/>
            <a:ext cx="128016" cy="1645920"/>
          </a:xfrm>
          <a:prstGeom prst="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3547872"/>
            <a:ext cx="22585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3931920"/>
            <a:ext cx="229514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문맥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속에서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중요한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정보에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더 큰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가중치를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두는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메커니즘</a:t>
            </a:r>
            <a:endParaRPr sz="13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529584" y="3401568"/>
            <a:ext cx="2606040" cy="16459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29584" y="3401568"/>
            <a:ext cx="128016" cy="1645920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39" y="3547872"/>
            <a:ext cx="22585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멀티모달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30752" y="3931920"/>
            <a:ext cx="229514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텍스트·이미지·음성·영상·문서를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함께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이해하고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endParaRPr sz="13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46520" y="1481328"/>
            <a:ext cx="5102352" cy="3566160"/>
          </a:xfrm>
          <a:prstGeom prst="roundRect">
            <a:avLst>
              <a:gd name="adj" fmla="val 5467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46520" y="1481328"/>
            <a:ext cx="128016" cy="3566160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65976" y="1627632"/>
            <a:ext cx="47548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HRD와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AI의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접점</a:t>
            </a:r>
            <a:endParaRPr sz="1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11112" y="1956816"/>
            <a:ext cx="4828032" cy="13948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요구분석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교육대상자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분류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VOC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정리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과정안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작성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메시지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학습경험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교안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슬라이드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FAQ,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메일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초안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문의응대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일정공지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후속안내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실습자료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배포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평가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만족도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정성의견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요약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토픽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경영진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보고자료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작성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엔지니어링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최소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출력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품질을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안정화하는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5요소와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현장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생산성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팁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5486400" cy="4425696"/>
          </a:xfrm>
          <a:prstGeom prst="roundRect">
            <a:avLst>
              <a:gd name="adj" fmla="val 5030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425696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51389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최소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</a:t>
            </a:r>
            <a:endParaRPr sz="1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5212080" cy="1559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역할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누구의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관점에서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답할지</a:t>
            </a:r>
            <a:endParaRPr sz="16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맥락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어떤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배경과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제약이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있는지</a:t>
            </a:r>
            <a:endParaRPr sz="16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입력자료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표,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문서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설문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사례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등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출력형식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표,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메일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보고서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FAQ, HTML 등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품질기준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정확성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톤앤매너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길이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금지사항</a:t>
            </a:r>
            <a:endParaRPr sz="16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73952" y="1481328"/>
            <a:ext cx="5074920" cy="20848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73952" y="1481328"/>
            <a:ext cx="128016" cy="2084831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93408" y="1627632"/>
            <a:ext cx="47274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생산성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1956816"/>
            <a:ext cx="4800600" cy="545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STT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활용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Windows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음성입력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`Win + H`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반복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업무는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템플릿화하고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최종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판단은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사람이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담당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73952" y="3767328"/>
            <a:ext cx="5074920" cy="2139696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9984" y="4078224"/>
            <a:ext cx="45262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도구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숙련보다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중요한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것:
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업무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문제를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명확히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정의하고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,
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사람이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검증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가능한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결과물로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연결하는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설계력</a:t>
            </a:r>
            <a:endParaRPr sz="18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685800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3291840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0" b="1" i="0" dirty="0">
                <a:solidFill>
                  <a:srgbClr val="C9A25D"/>
                </a:solidFill>
                <a:latin typeface="Pretendard" panose="02000503000000020004" pitchFamily="50" charset="-127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84831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실습</a:t>
            </a:r>
            <a:r>
              <a:rPr sz="3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2852928"/>
            <a:ext cx="6309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교육운영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효율화를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위한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AI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챗봇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/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웹페이지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만들기</a:t>
            </a:r>
            <a:endParaRPr sz="1800" b="0" i="0" dirty="0">
              <a:solidFill>
                <a:srgbClr val="DDE6EA"/>
              </a:solidFill>
              <a:latin typeface="Pretendard" panose="02000503000000020004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4224528"/>
            <a:ext cx="3794760" cy="54864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440740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흐름으로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다음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슬라이드를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전개</a:t>
            </a:r>
            <a:endParaRPr sz="12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1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방식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판단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챗봇과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웹페이지를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비교해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운영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리스크가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낮은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구성을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찾는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단계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3675887" cy="4434840"/>
          </a:xfrm>
          <a:prstGeom prst="roundRect">
            <a:avLst>
              <a:gd name="adj" fmla="val 6946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43484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3328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3401568" cy="1372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교육민원과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반복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문의를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줄이기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위한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제공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방식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챗봇과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정적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중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적합한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형태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판단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GitHub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Pages를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활용한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운영용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페이지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배포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45152" y="1481328"/>
            <a:ext cx="3264408" cy="204825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45152" y="1481328"/>
            <a:ext cx="128016" cy="2048256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1627632"/>
            <a:ext cx="291693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FAQ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웹페이지가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유리한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경우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9744" y="1956816"/>
            <a:ext cx="2990088" cy="780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정보가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바뀌지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않음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정확성이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특히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중요함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리스크를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최소화해야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5152" y="3675887"/>
            <a:ext cx="3264408" cy="204825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45152" y="3675887"/>
            <a:ext cx="128016" cy="2048256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8" y="3822191"/>
            <a:ext cx="291693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GPTs /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사내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챗봇이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유리한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경우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09744" y="4151375"/>
            <a:ext cx="2990088" cy="784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개인화된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탐색이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중요함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대화형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응답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경험이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필요함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변하는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질의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패턴을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흡수해야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481328"/>
            <a:ext cx="3401568" cy="4242816"/>
          </a:xfrm>
          <a:prstGeom prst="roundRect">
            <a:avLst>
              <a:gd name="adj" fmla="val 7706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1481328"/>
            <a:ext cx="128016" cy="4242816"/>
          </a:xfrm>
          <a:prstGeom prst="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57616" y="1627632"/>
            <a:ext cx="30540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권장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방식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02752" y="1956816"/>
            <a:ext cx="3127248" cy="1339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현실적으로는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'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+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필요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시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챗봇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'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조합이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가장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안정적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정확한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공지는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정적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페이지에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고정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대화형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탐색은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챗봇으로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보완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모바일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우선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QA가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필수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1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정의와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필수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섹션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실습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결과물을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명확하게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정의하고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페이지에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반드시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포함할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요소를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고정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3675887" cy="4480560"/>
          </a:xfrm>
          <a:prstGeom prst="roundRect">
            <a:avLst>
              <a:gd name="adj" fmla="val 7231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48056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3328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결과물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정의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3401568" cy="1343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ChatGPT GPTs,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안내용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마이크로사이트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1종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참고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`Webpage_Sample_Data.md`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배포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경로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GitHub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저장소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+ GitHub Pages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자료에는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모바일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접속용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QR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코드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반영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26864" y="1536192"/>
            <a:ext cx="283464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필수</a:t>
            </a:r>
            <a:r>
              <a:rPr sz="17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7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섹션</a:t>
            </a:r>
            <a:endParaRPr sz="17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26864" y="1965960"/>
            <a:ext cx="1783080" cy="621792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79" y="2176272"/>
            <a:ext cx="15270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과정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개요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47688" y="1965960"/>
            <a:ext cx="1783080" cy="621792"/>
          </a:xfrm>
          <a:prstGeom prst="round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75703" y="2176272"/>
            <a:ext cx="15270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일정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/</a:t>
            </a:r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장소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68512" y="1965960"/>
            <a:ext cx="1783080" cy="621792"/>
          </a:xfrm>
          <a:prstGeom prst="round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96528" y="2176272"/>
            <a:ext cx="15270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준비물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및 </a:t>
            </a:r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사전과제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626864" y="2852928"/>
            <a:ext cx="1783080" cy="621792"/>
          </a:xfrm>
          <a:prstGeom prst="round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79" y="3063240"/>
            <a:ext cx="15270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FAQ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7688" y="2852928"/>
            <a:ext cx="1783080" cy="621792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75703" y="3063240"/>
            <a:ext cx="15270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문의처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668512" y="2852928"/>
            <a:ext cx="1783080" cy="621792"/>
          </a:xfrm>
          <a:prstGeom prst="round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96528" y="3063240"/>
            <a:ext cx="15270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자료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다운로드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/ </a:t>
            </a:r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링크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641848" y="3739896"/>
            <a:ext cx="3694176" cy="621792"/>
          </a:xfrm>
          <a:prstGeom prst="round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9864" y="3950208"/>
            <a:ext cx="34381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모바일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접속용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QR </a:t>
            </a:r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코드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90288" y="4645152"/>
            <a:ext cx="6967728" cy="131673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90288" y="4645152"/>
            <a:ext cx="128016" cy="1316736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09744" y="4791456"/>
            <a:ext cx="662025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체크포인트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54879" y="5120640"/>
            <a:ext cx="6693408" cy="224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사람이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수정해야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할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항목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오탈자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일정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장소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문의처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사내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표현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방식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개인정보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노출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여부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1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절차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저장소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생성부터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모바일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검수와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QR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코드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반영까지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8단계로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정리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0020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512064" cy="512064"/>
          </a:xfrm>
          <a:prstGeom prst="ellipse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6424" y="194767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64792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GitHub에서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새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저장소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02736" y="160020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85615" y="1783080"/>
            <a:ext cx="512064" cy="512064"/>
          </a:xfrm>
          <a:prstGeom prst="ellipse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59352" y="194767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1764792"/>
            <a:ext cx="1417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로컬에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clone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160020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38544" y="1783080"/>
            <a:ext cx="512064" cy="512064"/>
          </a:xfrm>
          <a:prstGeom prst="ellipse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194767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1764792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웹페이지에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필요한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정리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308592" y="160020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91472" y="1783080"/>
            <a:ext cx="512064" cy="512064"/>
          </a:xfrm>
          <a:prstGeom prst="ellipse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65208" y="194767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764792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AI에게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초안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요청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49808" y="361188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2688" y="3794760"/>
            <a:ext cx="512064" cy="512064"/>
          </a:xfrm>
          <a:prstGeom prst="ellipse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06424" y="395935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1056" y="3776472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오탈자·일정·문의처·개인정보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검토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602736" y="361188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785615" y="3794760"/>
            <a:ext cx="512064" cy="512064"/>
          </a:xfrm>
          <a:prstGeom prst="ellipse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59352" y="395935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4" y="3776472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수정본을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GitHub에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push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55664" y="361188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638544" y="3794760"/>
            <a:ext cx="512064" cy="512064"/>
          </a:xfrm>
          <a:prstGeom prst="ellipse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12280" y="395935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776472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GitHub Pages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배포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후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모바일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확인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308592" y="361188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491472" y="3794760"/>
            <a:ext cx="512064" cy="512064"/>
          </a:xfrm>
          <a:prstGeom prst="ellipse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65208" y="395935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3776472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QR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코드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후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현장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배포자료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삽입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예시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웹사이트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생성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요청을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구조화된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요구조건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형태로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제시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36192"/>
            <a:ext cx="7452360" cy="4754880"/>
          </a:xfrm>
          <a:prstGeom prst="roundRect">
            <a:avLst>
              <a:gd name="adj" fmla="val 6720"/>
            </a:avLst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10512"/>
            <a:ext cx="7040880" cy="4315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HRD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과정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안내용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단일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페이지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웹사이트를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만들어줘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.
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목표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: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교육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참가자가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일정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,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장소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,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준비물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, FAQ,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문의처를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빠르게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확인할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수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있게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하기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모바일에서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먼저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읽히도록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설계하기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대상자명단에서는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전화걸기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,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문자보내기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버튼이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있어야함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반드시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포함할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섹션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: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과정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개요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일정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/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장소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준비물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FAQ 6개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문의처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자료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다운로드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버튼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디자인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조건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: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제조업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대기업의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신뢰감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있는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톤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과도한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애니메이션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금지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가독성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우선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HTML/CSS/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JavaScript를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분리해서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작성</a:t>
            </a:r>
            <a:endParaRPr sz="1350" dirty="0">
              <a:solidFill>
                <a:schemeClr val="bg1"/>
              </a:solidFill>
              <a:latin typeface="Pretendard" panose="02000503000000020004" pitchFamily="50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12480" y="1536192"/>
            <a:ext cx="3127248" cy="2176272"/>
          </a:xfrm>
          <a:prstGeom prst="roundRect">
            <a:avLst>
              <a:gd name="adj" fmla="val 7491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1536192"/>
            <a:ext cx="128016" cy="21762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31936" y="1682495"/>
            <a:ext cx="27797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포인트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77072" y="2011680"/>
            <a:ext cx="2852928" cy="780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필수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섹션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디자인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조건을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분리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대상자명단의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문자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CTA를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명시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모바일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우선과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분리까지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요구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12480" y="3950208"/>
            <a:ext cx="3127248" cy="2084831"/>
          </a:xfrm>
          <a:prstGeom prst="roundRect">
            <a:avLst>
              <a:gd name="adj" fmla="val 8601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3950208"/>
            <a:ext cx="128016" cy="2084831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31936" y="4096512"/>
            <a:ext cx="27797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현업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검토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포인트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852928" cy="769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정확한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일정·장소·문의처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반영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여부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문체와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보안·개인정보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기준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충족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여부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모바일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화면에서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실제로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읽히는지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확인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685800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3291840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0" b="1" i="0" dirty="0">
                <a:solidFill>
                  <a:srgbClr val="C9A25D"/>
                </a:solidFill>
                <a:latin typeface="Pretendard" panose="02000503000000020004" pitchFamily="50" charset="-127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84831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시연</a:t>
            </a:r>
            <a:r>
              <a:rPr sz="3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2852928"/>
            <a:ext cx="6309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교육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콘텐츠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및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피드백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자동화</a:t>
            </a:r>
            <a:endParaRPr sz="1800" b="0" i="0" dirty="0">
              <a:solidFill>
                <a:srgbClr val="DDE6EA"/>
              </a:solidFill>
              <a:latin typeface="Pretendard" panose="02000503000000020004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4224528"/>
            <a:ext cx="3794760" cy="54864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440740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흐름으로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다음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슬라이드를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전개</a:t>
            </a:r>
            <a:endParaRPr sz="12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시연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1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리더십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교육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F/U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개인화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메시지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자동화를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위한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입력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스키마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정의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3474720" cy="4526280"/>
          </a:xfrm>
          <a:prstGeom prst="roundRect">
            <a:avLst>
              <a:gd name="adj" fmla="val 7290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52628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31272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시연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3200400" cy="1631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Action Plan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활용해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개인화된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후속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메시지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초안을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작성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시간을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줄이면서도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맥락을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유지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개인화된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메일을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발송하는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Tool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활용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제시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80560" y="1481328"/>
            <a:ext cx="3273552" cy="1874519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481328"/>
            <a:ext cx="128016" cy="1874519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1627632"/>
            <a:ext cx="2926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기본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81728" y="2011680"/>
            <a:ext cx="2962656" cy="381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`name`, `company`, `department`, `position`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81328"/>
            <a:ext cx="3273552" cy="1874519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481328"/>
            <a:ext cx="128016" cy="1874519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1627632"/>
            <a:ext cx="2926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과정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0768" y="2011680"/>
            <a:ext cx="2962656" cy="381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`aspiration`, `</a:t>
            </a:r>
            <a:r>
              <a:rPr sz="12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action_plan</a:t>
            </a:r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`, `</a:t>
            </a:r>
            <a:r>
              <a:rPr sz="12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expected_behavior</a:t>
            </a:r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675887"/>
            <a:ext cx="3273552" cy="1874519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675887"/>
            <a:ext cx="128016" cy="1874519"/>
          </a:xfrm>
          <a:prstGeom prst="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0016" y="3822191"/>
            <a:ext cx="2926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피드백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81728" y="4206240"/>
            <a:ext cx="2962656" cy="190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</a:t>
            </a:r>
            <a:r>
              <a:rPr sz="12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training_comment</a:t>
            </a:r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`, `</a:t>
            </a:r>
            <a:r>
              <a:rPr sz="12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top_takeaway</a:t>
            </a:r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675887"/>
            <a:ext cx="3273552" cy="1874519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675887"/>
            <a:ext cx="128016" cy="1874519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49056" y="3822191"/>
            <a:ext cx="2926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30768" y="4206240"/>
            <a:ext cx="2962656" cy="190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`email`, `</a:t>
            </a:r>
            <a:r>
              <a:rPr sz="12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manager_name</a:t>
            </a:r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권장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CSV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로드부터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HTML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메일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생성과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일괄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발송까지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6단계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자동화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64208"/>
            <a:ext cx="3364992" cy="1627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128016" cy="1627632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810512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1.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로드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전처리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0976" y="2194560"/>
            <a:ext cx="3054096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스프레드시트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(`교육_액션플랜_데이터.csv`)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로드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및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전처리</a:t>
            </a:r>
            <a:endParaRPr sz="126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17136" y="1664208"/>
            <a:ext cx="3364992" cy="1627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17136" y="1664208"/>
            <a:ext cx="128016" cy="1627632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1810512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2.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템플릿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18304" y="2194560"/>
            <a:ext cx="3054096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이름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소속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실행계획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코멘트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매니저명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등을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변수로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매핑</a:t>
            </a:r>
            <a:endParaRPr sz="126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84464" y="1664208"/>
            <a:ext cx="3364992" cy="1627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84464" y="1664208"/>
            <a:ext cx="128016" cy="162763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1810512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3.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메시지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85632" y="2194560"/>
            <a:ext cx="3054096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지정된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담당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매니저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명의의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개인별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후속지원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메시지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초안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endParaRPr sz="126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49808" y="3657600"/>
            <a:ext cx="3364992" cy="1627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8" y="3657600"/>
            <a:ext cx="128016" cy="1627632"/>
          </a:xfrm>
          <a:prstGeom prst="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" y="3803904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4. HTML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변환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50976" y="4187952"/>
            <a:ext cx="3054096" cy="193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HTML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메일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본문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형식으로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변환</a:t>
            </a:r>
            <a:endParaRPr sz="126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17136" y="3657600"/>
            <a:ext cx="3364992" cy="1627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17136" y="3657600"/>
            <a:ext cx="128016" cy="1627632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36592" y="3803904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5.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최종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검수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18304" y="4187952"/>
            <a:ext cx="3054096" cy="193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어조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민감표현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인사말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등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사실관계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검수</a:t>
            </a:r>
            <a:endParaRPr sz="126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84464" y="3657600"/>
            <a:ext cx="3364992" cy="1627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84464" y="3657600"/>
            <a:ext cx="128016" cy="1627632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3803904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6.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일괄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발송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85632" y="4187952"/>
            <a:ext cx="3054096" cy="193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XLMultimail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도구를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활용해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전체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발송</a:t>
            </a:r>
            <a:endParaRPr sz="126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4114800" y="2487168"/>
            <a:ext cx="402336" cy="0"/>
          </a:xfrm>
          <a:prstGeom prst="line">
            <a:avLst/>
          </a:prstGeom>
          <a:ln w="17780">
            <a:solidFill>
              <a:srgbClr val="D9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882127" y="2487168"/>
            <a:ext cx="402337" cy="0"/>
          </a:xfrm>
          <a:prstGeom prst="line">
            <a:avLst/>
          </a:prstGeom>
          <a:ln w="17780">
            <a:solidFill>
              <a:srgbClr val="D9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114800" y="4480560"/>
            <a:ext cx="402336" cy="0"/>
          </a:xfrm>
          <a:prstGeom prst="line">
            <a:avLst/>
          </a:prstGeom>
          <a:ln w="17780">
            <a:solidFill>
              <a:srgbClr val="D9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82127" y="4480560"/>
            <a:ext cx="402337" cy="0"/>
          </a:xfrm>
          <a:prstGeom prst="line">
            <a:avLst/>
          </a:prstGeom>
          <a:ln w="17780">
            <a:solidFill>
              <a:srgbClr val="D9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시연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자동화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스크립트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데이터셋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발송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도구의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역할을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분리해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보여주기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09344"/>
            <a:ext cx="10789920" cy="3218688"/>
          </a:xfrm>
          <a:prstGeom prst="roundRect">
            <a:avLst>
              <a:gd name="adj" fmla="val 6871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382769"/>
              </p:ext>
            </p:extLst>
          </p:nvPr>
        </p:nvGraphicFramePr>
        <p:xfrm>
          <a:off x="914400" y="1828800"/>
          <a:ext cx="1042416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구분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파일명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설명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자동화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스크립트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Consolas"/>
                        </a:rPr>
                        <a:t>SCRIPT_</a:t>
                      </a:r>
                      <a:r>
                        <a:rPr sz="1200" dirty="0"/>
                        <a:t>glm_feedback_automation.py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CSV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데이터를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읽어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LLM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API로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개인별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피드백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초안을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생성하고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HTML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메일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  <a:p>
                      <a:r>
                        <a:rPr sz="1200" dirty="0" err="1"/>
                        <a:t>미리보기와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대시보드까지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출력</a:t>
                      </a:r>
                      <a:endParaRPr sz="1200" dirty="0"/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sample_</a:t>
                      </a:r>
                      <a:r>
                        <a:rPr sz="1200" dirty="0" err="1"/>
                        <a:t>data</a:t>
                      </a:r>
                      <a:r>
                        <a:rPr sz="1200" dirty="0"/>
                        <a:t>/교육_액션플랜_데이터.csv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50명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규모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가상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수강자의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액션플랜·피드백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메일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발송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도구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Consolas"/>
                        </a:rPr>
                        <a:t>FILE_</a:t>
                      </a:r>
                      <a:r>
                        <a:rPr sz="1200" dirty="0"/>
                        <a:t>엑셀에서메일발송_XLMultimail_v2.6.0_20240117.zip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Excel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기반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일괄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메일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발송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애드인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(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XLMultimail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49808" y="5102352"/>
            <a:ext cx="1078992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5102352"/>
            <a:ext cx="128016" cy="841248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5248656"/>
            <a:ext cx="104424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발송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전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최종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검수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10515600" cy="216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어조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민감표현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인사말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사실관계는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사람이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마지막으로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확인해야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685800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3291840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0" b="1" i="0" dirty="0">
                <a:solidFill>
                  <a:srgbClr val="C9A25D"/>
                </a:solidFill>
                <a:latin typeface="Pretendard" panose="02000503000000020004" pitchFamily="50" charset="-127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84831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실습</a:t>
            </a:r>
            <a:r>
              <a:rPr sz="3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2852928"/>
            <a:ext cx="6309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교육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데이터의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AI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기반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자동화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전략</a:t>
            </a:r>
            <a:endParaRPr sz="1800" b="0" i="0" dirty="0">
              <a:solidFill>
                <a:srgbClr val="DDE6EA"/>
              </a:solidFill>
              <a:latin typeface="Pretendard" panose="02000503000000020004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4224528"/>
            <a:ext cx="3794760" cy="54864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440740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흐름으로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다음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슬라이드를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전개</a:t>
            </a:r>
            <a:endParaRPr sz="12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2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프레이밍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정량·정성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분석과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HTML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보고서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산출을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한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흐름으로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묶기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3657600" cy="45354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535424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3310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3383280" cy="1631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만족도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정량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정성으로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나누어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이해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수작업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줄이고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반복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가능한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파이프라인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담은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대시보드를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단일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HTML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보고서로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63440" y="1481328"/>
            <a:ext cx="3255264" cy="2066543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63440" y="1481328"/>
            <a:ext cx="128016" cy="2066543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82896" y="1627632"/>
            <a:ext cx="290779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정량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28031" y="1956816"/>
            <a:ext cx="2980944" cy="769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리커트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척도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기반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평균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(Average)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추천의향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문항은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NPS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별도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계산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강사만족도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내용적합성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등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문항군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93024" y="1481328"/>
            <a:ext cx="3364992" cy="2066543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93024" y="1481328"/>
            <a:ext cx="128016" cy="2066543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627632"/>
            <a:ext cx="3017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정성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57616" y="1956816"/>
            <a:ext cx="3090672" cy="765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주관식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수강소감에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KOTE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감성분석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핵심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토픽모델링으로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인사이트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도출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키워드·감성분포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시각화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63440" y="3803904"/>
            <a:ext cx="6894576" cy="22128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3803904"/>
            <a:ext cx="128016" cy="2212848"/>
          </a:xfrm>
          <a:prstGeom prst="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82896" y="3950208"/>
            <a:ext cx="654710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2차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</a:t>
            </a:r>
            <a:endParaRPr sz="1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8031" y="4279392"/>
            <a:ext cx="6620256" cy="805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NPS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차트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감성분포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토픽모델링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워드클라우드가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결합된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HTML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기반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최종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요약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보고서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경영진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보고용으로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정량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수치와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정성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인사이트를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한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화면에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통합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후속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액션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도출까지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연결되는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환류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(Feedback Loop)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권장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수집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전처리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정량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/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정성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분석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HTML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생성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환류의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파이프라인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72768"/>
            <a:ext cx="10789920" cy="43159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632189"/>
              </p:ext>
            </p:extLst>
          </p:nvPr>
        </p:nvGraphicFramePr>
        <p:xfrm>
          <a:off x="896112" y="1755648"/>
          <a:ext cx="104698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단계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입력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처리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출력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수집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설문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원본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결측치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및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항목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속성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점검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  <a:p>
                      <a:r>
                        <a:rPr sz="1200" dirty="0"/>
                        <a:t>(`</a:t>
                      </a:r>
                      <a:r>
                        <a:rPr sz="1200" dirty="0" err="1"/>
                        <a:t>교육만족도</a:t>
                      </a:r>
                      <a:r>
                        <a:rPr sz="1200" dirty="0"/>
                        <a:t>_</a:t>
                      </a:r>
                    </a:p>
                    <a:p>
                      <a:r>
                        <a:rPr sz="1200" dirty="0" err="1"/>
                        <a:t>설문</a:t>
                      </a:r>
                      <a:r>
                        <a:rPr sz="1200" dirty="0"/>
                        <a:t>_</a:t>
                      </a:r>
                    </a:p>
                    <a:p>
                      <a:r>
                        <a:rPr sz="1200" dirty="0"/>
                        <a:t>데이터.csv`)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분석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대상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데이터셋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전처리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정량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/</a:t>
                      </a:r>
                    </a:p>
                    <a:p>
                      <a:r>
                        <a:rPr sz="1200" dirty="0" err="1"/>
                        <a:t>정성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응답</a:t>
                      </a:r>
                      <a:endParaRPr sz="1200" dirty="0"/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KOTE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감성분석을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위한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형태소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/</a:t>
                      </a:r>
                    </a:p>
                    <a:p>
                      <a:r>
                        <a:rPr sz="1200" dirty="0" err="1"/>
                        <a:t>텍스트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정제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비식별화</a:t>
                      </a:r>
                      <a:endParaRPr sz="1200" dirty="0"/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정제된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분석용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정량분석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점수형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응답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만족도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문항군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평균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도출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,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추천도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기반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NPS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계산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주요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통계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요약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및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차트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값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권장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수집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전처리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정량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/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정성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분석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HTML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생성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환류의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파이프라인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72768"/>
            <a:ext cx="10789920" cy="43159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427764"/>
              </p:ext>
            </p:extLst>
          </p:nvPr>
        </p:nvGraphicFramePr>
        <p:xfrm>
          <a:off x="896112" y="1755648"/>
          <a:ext cx="104698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단계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입력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처리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출력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정성분석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서술형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응답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('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수강소감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')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KOTE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감성분류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,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토픽모델링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(LDA 등)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으로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주요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키워드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추출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텍스트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분석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핵심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인사이트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HTML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생성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정량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/</a:t>
                      </a:r>
                    </a:p>
                    <a:p>
                      <a:r>
                        <a:rPr sz="1200" dirty="0" err="1"/>
                        <a:t>정성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결과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종합</a:t>
                      </a:r>
                      <a:endParaRPr sz="1200" dirty="0"/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시각화를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포함해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하나의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문서로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결합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경영진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보고용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HTML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통합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보고서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환류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최종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요약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보고서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데이터에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나타난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강약점을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기반으로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다음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차수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액션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도출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교육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개선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실행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과제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41248" y="5989320"/>
            <a:ext cx="10241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참고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: KOTE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레포지토리와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Mu(2024)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논문을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통해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모델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다운로드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및 LLM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기반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토픽모델링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가이드를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확인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2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결과물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참고자료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최종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HTML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보고서와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이를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지원하는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데이터·프롬프트·논문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묶음을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정리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3703320" cy="44988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498848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33558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실무형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결과물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예시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3429000" cy="1423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KOTE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감성분석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요약표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문항별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NPS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지표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토픽모델링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워드클라우드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정량·정성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하나로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렌더링한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HTML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보고서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81728" y="1481328"/>
            <a:ext cx="6876288" cy="28163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81728" y="1481328"/>
            <a:ext cx="128016" cy="281635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01184" y="1627632"/>
            <a:ext cx="652881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46320" y="1956816"/>
            <a:ext cx="6601968" cy="1057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`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sample_data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/교육만족도_설문_데이터.csv` : 50명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규모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만족도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endParaRPr sz="134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`PROMPT_Quantitative_Analysis_Prompt_Sample.md` :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평균·NPS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요청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예시</a:t>
            </a:r>
            <a:endParaRPr sz="134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`PROMPT_TopicModeling_Prompt_Sample.md` :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감성분석·토픽모델링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요청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예시</a:t>
            </a:r>
            <a:endParaRPr sz="134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`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REFERENCE_Mu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 Y., (2024)...pdf` : LLM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기반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토픽모델링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방법론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참고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논문</a:t>
            </a:r>
            <a:endParaRPr sz="134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81728" y="4535424"/>
            <a:ext cx="6876288" cy="14447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81728" y="4535424"/>
            <a:ext cx="128016" cy="1444752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01184" y="4681728"/>
            <a:ext cx="652881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참고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링크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46320" y="5010912"/>
            <a:ext cx="6601968" cy="493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KOTE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레포지토리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https://github.com/searle-j/KOTE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Mu(2024)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논문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https://arxiv.org/pdf/2403.16248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685800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3291840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0" b="1" i="0" dirty="0">
                <a:solidFill>
                  <a:srgbClr val="C9A25D"/>
                </a:solidFill>
                <a:latin typeface="Pretendard" panose="02000503000000020004" pitchFamily="50" charset="-127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84831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사례공유</a:t>
            </a:r>
            <a:endParaRPr sz="30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84448" y="2852928"/>
            <a:ext cx="6309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AI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기반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혁신적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성과창출을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위한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리더십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제고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사례</a:t>
            </a:r>
            <a:endParaRPr sz="1800" b="0" i="0" dirty="0">
              <a:solidFill>
                <a:srgbClr val="DDE6EA"/>
              </a:solidFill>
              <a:latin typeface="Pretendard" panose="02000503000000020004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4224528"/>
            <a:ext cx="3794760" cy="54864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440740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흐름으로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다음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슬라이드를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전개</a:t>
            </a:r>
            <a:endParaRPr sz="12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리더십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제고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스토리라인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2025년의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공감대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형성에서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2026년의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실제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문제해결·확산으로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연결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700784"/>
            <a:ext cx="4828032" cy="43159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" y="1700784"/>
            <a:ext cx="128016" cy="4315968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" y="1847088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2025년: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중요성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인식과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공감대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형성의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76272"/>
            <a:ext cx="4553712" cy="617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임원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1박 2일 LLM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실습과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산하조직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DX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계획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수립</a:t>
            </a:r>
            <a:endParaRPr sz="17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팀장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CTO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특강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→ LLM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→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과제도출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워크숍</a:t>
            </a:r>
            <a:endParaRPr sz="17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5815584" y="2788920"/>
            <a:ext cx="822960" cy="1097280"/>
          </a:xfrm>
          <a:prstGeom prst="chevron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03136" y="1700784"/>
            <a:ext cx="4828032" cy="43159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03136" y="1700784"/>
            <a:ext cx="128016" cy="4315968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22592" y="1847088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2026년: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실제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문제해결과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확산의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176272"/>
            <a:ext cx="4553712" cy="1300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Change Agent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선발</a:t>
            </a:r>
            <a:endParaRPr sz="17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과제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확정</a:t>
            </a:r>
            <a:endParaRPr sz="17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장기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수행</a:t>
            </a:r>
            <a:endParaRPr sz="17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성과공유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및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차년도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승계</a:t>
            </a:r>
            <a:endParaRPr sz="17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Change Agent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설명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보강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현장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실행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담당자의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정의와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기대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역할을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명확히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제시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36192"/>
            <a:ext cx="10808208" cy="950976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81051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정의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: 실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단위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조직의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문화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/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업무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개선을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주도하는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현장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실행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담당자</a:t>
            </a:r>
            <a:endParaRPr sz="18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8" y="2907792"/>
            <a:ext cx="2596896" cy="24871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2907792"/>
            <a:ext cx="128016" cy="2487168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3054096"/>
            <a:ext cx="224942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현업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문제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발굴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0976" y="3438144"/>
            <a:ext cx="2286000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실제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현장에서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반복되거나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병목이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되는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과제를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정의</a:t>
            </a:r>
            <a:endParaRPr sz="133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493008" y="2907792"/>
            <a:ext cx="2596896" cy="24871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93008" y="2907792"/>
            <a:ext cx="128016" cy="2487168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12463" y="3054096"/>
            <a:ext cx="224942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AI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적용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실험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94176" y="3438144"/>
            <a:ext cx="2286000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작은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자동화와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파일럿을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빠르게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실행</a:t>
            </a:r>
            <a:endParaRPr sz="133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36208" y="2907792"/>
            <a:ext cx="2596896" cy="24871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2907792"/>
            <a:ext cx="128016" cy="2487168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55664" y="3054096"/>
            <a:ext cx="224942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구성원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참여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유도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37376" y="3438144"/>
            <a:ext cx="2286000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현업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구성원에게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참여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맥락과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실익을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설명</a:t>
            </a:r>
            <a:endParaRPr sz="133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979408" y="2907792"/>
            <a:ext cx="2596896" cy="24871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79408" y="2907792"/>
            <a:ext cx="128016" cy="2487168"/>
          </a:xfrm>
          <a:prstGeom prst="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98864" y="3054096"/>
            <a:ext cx="224942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성과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사례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문서화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80576" y="3438144"/>
            <a:ext cx="2286000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배운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점과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결과를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재사용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가능한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사례로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축적</a:t>
            </a:r>
            <a:endParaRPr sz="133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685800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3291840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0" b="1" i="0" dirty="0">
                <a:solidFill>
                  <a:srgbClr val="C9A25D"/>
                </a:solidFill>
                <a:latin typeface="Pretendard" panose="02000503000000020004" pitchFamily="50" charset="-127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84831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2852928"/>
            <a:ext cx="6309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HRD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담당자의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AI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학습방법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및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전사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AX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추진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제언</a:t>
            </a:r>
            <a:endParaRPr sz="1800" b="0" i="0" dirty="0">
              <a:solidFill>
                <a:srgbClr val="DDE6EA"/>
              </a:solidFill>
              <a:latin typeface="Pretendard" panose="02000503000000020004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4224528"/>
            <a:ext cx="3794760" cy="54864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440740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흐름으로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다음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슬라이드를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전개</a:t>
            </a:r>
            <a:endParaRPr sz="12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실천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제언과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추천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탐색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영역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학습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습관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팀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자산화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보안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검토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도구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탐색을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동시에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제안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4892040" cy="4517136"/>
          </a:xfrm>
          <a:prstGeom prst="roundRect">
            <a:avLst>
              <a:gd name="adj" fmla="val 3637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517136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45445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실천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제언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4617720" cy="1897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트렌드를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모두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따라갈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필요는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없지만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업무와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연결되는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변화는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놓치지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않는다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매주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30분은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새로운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도구를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탐색하고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매월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1개는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실제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업무에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적용해본다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팀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단위로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'잘 쓴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', '잘 안 된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', '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재사용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가능한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템플릿'을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축적한다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외부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서비스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사용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시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보안과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저작권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검토를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습관화한다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0448" y="1481328"/>
            <a:ext cx="5669280" cy="2816352"/>
          </a:xfrm>
          <a:prstGeom prst="roundRect">
            <a:avLst>
              <a:gd name="adj" fmla="val 7710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70448" y="1481328"/>
            <a:ext cx="128016" cy="281635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9904" y="1627632"/>
            <a:ext cx="532180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추천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탐색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영역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35040" y="1956816"/>
            <a:ext cx="5394960" cy="1064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범용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AI: ChatGPT, Gemini, Claude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에이전트형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업무도구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Codex, Gemini CLI, Claude Code, GitHub Copilot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검색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리서치형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AI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서비스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사내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보안정책과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적합성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기준으로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선별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도입</a:t>
            </a:r>
            <a:endParaRPr sz="14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870448" y="4553712"/>
            <a:ext cx="5669280" cy="14447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70448" y="4553712"/>
            <a:ext cx="128016" cy="1444752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9904" y="4700016"/>
            <a:ext cx="532180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학습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채널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35040" y="5029200"/>
            <a:ext cx="5394960" cy="815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GeekNews</a:t>
            </a:r>
            <a:endParaRPr sz="14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유튜브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기술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채널</a:t>
            </a:r>
            <a:endParaRPr sz="14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실무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중심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도서</a:t>
            </a:r>
            <a:endParaRPr sz="14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추천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Utility: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PowerToys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Windows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생산성을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높여주는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무료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유틸리티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모음으로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실습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중 창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정리와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빠른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실행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텍스트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추출에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특히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유용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10808208" cy="786384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755648"/>
            <a:ext cx="10241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Windows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생산성을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높여주는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무료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유틸리티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모음으로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실습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중 창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정리와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빠른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실행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텍스트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추출에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특히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유용</a:t>
            </a:r>
            <a:endParaRPr sz="1400" b="0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8" y="257860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2578608"/>
            <a:ext cx="128016" cy="1609344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272491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FancyZones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489704" cy="40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여러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창을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미리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레이아웃에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맞춰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배치해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강의자료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AI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메모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창을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동시에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안정적으로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504688" y="257860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04688" y="2578608"/>
            <a:ext cx="128016" cy="1609344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24144" y="272491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Text Extractor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5855" y="3108960"/>
            <a:ext cx="4489704" cy="40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이미지·영상·웹페이지에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보이는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텍스트를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OCR로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바로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복사해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예시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화면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문구를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재활용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9808" y="459028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9808" y="4590288"/>
            <a:ext cx="128016" cy="1609344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473659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PowerToys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Run / Command Palette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120640"/>
            <a:ext cx="4489704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앱,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폴더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명령을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빠르게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실행해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중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전환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속도를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높임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504688" y="459028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04688" y="4590288"/>
            <a:ext cx="128016" cy="1609344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24144" y="473659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Always On 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05855" y="5120640"/>
            <a:ext cx="4489704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체크리스트나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공지사항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창을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항상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위에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고정해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진행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안정성을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높임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추천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Utility: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ShareX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화면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캡처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스크롤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캡처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GIF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녹화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OCR,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주석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편집까지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한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번에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처리할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수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있어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교육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운영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자료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제작에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매우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실용적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10808208" cy="786384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755648"/>
            <a:ext cx="10241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화면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캡처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스크롤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캡처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, GIF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녹화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, OCR,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주석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편집까지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한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번에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처리할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수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있어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교육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운영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자료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제작에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매우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실용적</a:t>
            </a:r>
            <a:endParaRPr sz="1400" b="0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8" y="257860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2578608"/>
            <a:ext cx="128016" cy="1609344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272491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Region Capture / Scrolling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489704" cy="40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긴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웹페이지나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설문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화면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전체를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한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장으로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캡처해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FAQ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페이지와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대시보드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공유에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활용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504688" y="257860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04688" y="2578608"/>
            <a:ext cx="128016" cy="1609344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24144" y="272491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Annotation / Image Editor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5855" y="3108960"/>
            <a:ext cx="4489704" cy="40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화살표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박스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하이라이트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등을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넣어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매뉴얼·안내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이미지를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빠르게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제작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9808" y="459028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9808" y="4590288"/>
            <a:ext cx="128016" cy="1609344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473659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Screen Recording / GIF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120640"/>
            <a:ext cx="4489704" cy="40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짧은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사용법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시연을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GIF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또는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영상으로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남겨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안내자료로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전환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504688" y="459028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04688" y="4590288"/>
            <a:ext cx="128016" cy="1609344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24144" y="473659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OCR /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05855" y="5120640"/>
            <a:ext cx="4489704" cy="40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캡처한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이미지에서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텍스트를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추출하고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저장·복사·업로드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등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후속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작업을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자동화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부록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폴더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프로젝트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폴더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(`LETSAI/`)의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파일과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관련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세션을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연결한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부록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109270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266982"/>
              </p:ext>
            </p:extLst>
          </p:nvPr>
        </p:nvGraphicFramePr>
        <p:xfrm>
          <a:off x="804672" y="1719072"/>
          <a:ext cx="10607040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파일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/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폴더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유형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관련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세션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설명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Consolas"/>
                        </a:rPr>
                        <a:t>DOCUMENT_</a:t>
                      </a:r>
                    </a:p>
                    <a:p>
                      <a:r>
                        <a:rPr sz="1200" dirty="0"/>
                        <a:t>Design.md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문서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전체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강의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및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설계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문서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(본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문서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E38"/>
                          </a:solidFill>
                          <a:latin typeface="Consolas"/>
                        </a:rPr>
                        <a:t>DOCUMENT_</a:t>
                      </a:r>
                    </a:p>
                    <a:p>
                      <a:r>
                        <a:rPr sz="1200"/>
                        <a:t>4월 HRD부문의 AI 활용 세미나</a:t>
                      </a:r>
                    </a:p>
                    <a:p>
                      <a:r>
                        <a:rPr sz="1200"/>
                        <a:t>(1차명단).pdf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문서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전체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참석자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1차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확정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명단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E38"/>
                          </a:solidFill>
                          <a:latin typeface="Consolas"/>
                        </a:rPr>
                        <a:t>Webpage_</a:t>
                      </a:r>
                    </a:p>
                    <a:p>
                      <a:r>
                        <a:rPr sz="1200"/>
                        <a:t>Sample_</a:t>
                      </a:r>
                    </a:p>
                    <a:p>
                      <a:r>
                        <a:rPr sz="1200"/>
                        <a:t>Data.md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1 (§5)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교육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안내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웹페이지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제작용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가상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샘플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정보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E38"/>
                          </a:solidFill>
                          <a:latin typeface="Consolas"/>
                        </a:rPr>
                        <a:t>SCRIPT_</a:t>
                      </a:r>
                    </a:p>
                    <a:p>
                      <a:r>
                        <a:rPr sz="1200"/>
                        <a:t>glm_</a:t>
                      </a:r>
                    </a:p>
                    <a:p>
                      <a:r>
                        <a:rPr sz="1200"/>
                        <a:t>feedback_</a:t>
                      </a:r>
                    </a:p>
                    <a:p>
                      <a:r>
                        <a:rPr sz="1200"/>
                        <a:t>automation.py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스크립트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시연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1 (§6)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CSV → LLM API →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개인화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피드백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HTML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메일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자동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생성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  <a:p>
                      <a:r>
                        <a:rPr sz="1200" dirty="0" err="1"/>
                        <a:t>파이프라인</a:t>
                      </a:r>
                      <a:endParaRPr sz="1200" dirty="0"/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Consolas"/>
                        </a:rPr>
                        <a:t>FILE_</a:t>
                      </a:r>
                    </a:p>
                    <a:p>
                      <a:r>
                        <a:rPr sz="1200" dirty="0" err="1"/>
                        <a:t>엑셀에서메일발송</a:t>
                      </a:r>
                      <a:r>
                        <a:rPr sz="1200" dirty="0"/>
                        <a:t>_</a:t>
                      </a:r>
                    </a:p>
                    <a:p>
                      <a:r>
                        <a:rPr sz="1200" dirty="0" err="1"/>
                        <a:t>XLMultimail</a:t>
                      </a:r>
                      <a:r>
                        <a:rPr sz="1200" dirty="0"/>
                        <a:t>_</a:t>
                      </a:r>
                    </a:p>
                    <a:p>
                      <a:r>
                        <a:rPr sz="1200" dirty="0"/>
                        <a:t>v2.6.0_</a:t>
                      </a:r>
                    </a:p>
                    <a:p>
                      <a:r>
                        <a:rPr sz="1200" dirty="0"/>
                        <a:t>20240117.zip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도구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시연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1 (§6)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Excel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기반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일괄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메일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발송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애드인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(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XLMultimail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부록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폴더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프로젝트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폴더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(`LETSAI/`)의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파일과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관련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세션을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연결한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부록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109270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574179"/>
              </p:ext>
            </p:extLst>
          </p:nvPr>
        </p:nvGraphicFramePr>
        <p:xfrm>
          <a:off x="804672" y="1719072"/>
          <a:ext cx="106070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3816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파일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/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폴더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유형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관련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세션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설명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PROMPT_</a:t>
                      </a:r>
                      <a:r>
                        <a:rPr sz="1200" dirty="0" err="1"/>
                        <a:t>Quantitative_Analysis</a:t>
                      </a:r>
                      <a:r>
                        <a:rPr sz="1200" dirty="0"/>
                        <a:t>_</a:t>
                      </a:r>
                    </a:p>
                    <a:p>
                      <a:r>
                        <a:rPr sz="1200" dirty="0"/>
                        <a:t>Prompt_Sample.md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프롬프트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2 (§7)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정량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분석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(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평균·NPS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)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요청용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프롬프트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예시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PROMPT_</a:t>
                      </a:r>
                      <a:r>
                        <a:rPr sz="1200" dirty="0" err="1"/>
                        <a:t>TopicModeling_Prompt</a:t>
                      </a:r>
                      <a:r>
                        <a:rPr sz="1200" dirty="0"/>
                        <a:t>_</a:t>
                      </a:r>
                    </a:p>
                    <a:p>
                      <a:r>
                        <a:rPr sz="1200" dirty="0"/>
                        <a:t>Sample.md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프롬프트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2 (§7)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감성분석·토픽모델링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요청용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프롬프트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예시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REFERENCE_</a:t>
                      </a:r>
                      <a:r>
                        <a:rPr sz="1200" dirty="0" err="1"/>
                        <a:t>Mu</a:t>
                      </a:r>
                      <a:r>
                        <a:rPr sz="1200" dirty="0"/>
                        <a:t>. Y., (2024) Large</a:t>
                      </a:r>
                    </a:p>
                    <a:p>
                      <a:r>
                        <a:rPr sz="1200" dirty="0"/>
                        <a:t>Language Models Offer an</a:t>
                      </a:r>
                    </a:p>
                    <a:p>
                      <a:r>
                        <a:rPr sz="1200" dirty="0"/>
                        <a:t>Alternative to the</a:t>
                      </a:r>
                      <a:r>
                        <a:rPr lang="en-US" sz="1200" dirty="0"/>
                        <a:t> </a:t>
                      </a:r>
                      <a:r>
                        <a:rPr sz="1200" dirty="0"/>
                        <a:t>Traditional.pdf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참고문헌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2 (§7)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LLM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기반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토픽모델링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방법론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논문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sample_</a:t>
                      </a:r>
                      <a:r>
                        <a:rPr sz="1200" dirty="0" err="1"/>
                        <a:t>data</a:t>
                      </a:r>
                      <a:r>
                        <a:rPr sz="1200" dirty="0"/>
                        <a:t>/교육_액션플랜_데이터.csv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시연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1 (§6)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50명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가상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수강자의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액션플랜·피드백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원본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부록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폴더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프로젝트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폴더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(`LETSAI/`)의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파일과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관련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세션을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연결한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부록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109270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359328"/>
              </p:ext>
            </p:extLst>
          </p:nvPr>
        </p:nvGraphicFramePr>
        <p:xfrm>
          <a:off x="804672" y="1719072"/>
          <a:ext cx="106070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3816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파일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/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폴더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유형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관련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세션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설명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sample_</a:t>
                      </a:r>
                      <a:r>
                        <a:rPr sz="1200" dirty="0" err="1"/>
                        <a:t>data</a:t>
                      </a:r>
                      <a:r>
                        <a:rPr sz="1200" dirty="0"/>
                        <a:t>/교육만족도_설문_데이터.csv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2 (§7)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50명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교육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만족도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설문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(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정량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+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정성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sample_</a:t>
                      </a:r>
                      <a:r>
                        <a:rPr sz="1200" dirty="0" err="1"/>
                        <a:t>data</a:t>
                      </a:r>
                      <a:r>
                        <a:rPr sz="1200" dirty="0"/>
                        <a:t>/course_info.csv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1 (§5)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과정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기본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정보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sample_</a:t>
                      </a:r>
                      <a:r>
                        <a:rPr sz="1200" dirty="0" err="1"/>
                        <a:t>data</a:t>
                      </a:r>
                      <a:r>
                        <a:rPr sz="1200" dirty="0"/>
                        <a:t>/course_faq.csv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1 (§5)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과정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FAQ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Consolas"/>
                        </a:rPr>
                        <a:t>config/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설정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전체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스크립트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실행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환경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설정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3061</Words>
  <Application>Microsoft Office PowerPoint</Application>
  <PresentationFormat>와이드스크린</PresentationFormat>
  <Paragraphs>533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Pretendard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HRD부문의 효과적인 AI 활용 방안</dc:title>
  <dc:subject>현대제철 HRD 세미나용 구조화 발표자료</dc:subject>
  <dc:creator>OpenAI Codex</dc:creator>
  <cp:keywords>HRD, AI, 현대제철, 교육운영, 발표자료</cp:keywords>
  <dc:description>generated using python-pptx</dc:description>
  <cp:lastModifiedBy>ChungSeok Han</cp:lastModifiedBy>
  <cp:revision>2</cp:revision>
  <dcterms:created xsi:type="dcterms:W3CDTF">2013-01-27T09:14:16Z</dcterms:created>
  <dcterms:modified xsi:type="dcterms:W3CDTF">2026-04-10T05:51:52Z</dcterms:modified>
  <cp:category/>
  <dc:language>ko-KR</dc:language>
</cp:coreProperties>
</file>